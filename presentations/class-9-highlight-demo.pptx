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600" b="1">
                <a:solidFill>
                  <a:srgbClr val="2AC9E6"/>
                </a:solidFill>
                <a:latin typeface="Aptos"/>
              </a:rPr>
              <a:t>CLASS 9 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6675120" cy="10972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GEO + WordPress MCP
From Review to Safe Live Publish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4884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0">
                <a:solidFill>
                  <a:srgbClr val="D8E6F7"/>
                </a:solidFill>
                <a:latin typeface="Aptos"/>
              </a:rPr>
              <a:t>Students learn how Hermes reviews WordPress content for answer-engine readiness, previews changes safely, and applies improvements through MCP without breaking the live site.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822960"/>
            <a:ext cx="4480560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69480" y="10972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>
                <a:solidFill>
                  <a:srgbClr val="0A162C"/>
                </a:solidFill>
                <a:latin typeface="Aptos"/>
              </a:rPr>
              <a:t>Core workflow</a:t>
            </a:r>
          </a:p>
        </p:txBody>
      </p:sp>
      <p:sp>
        <p:nvSpPr>
          <p:cNvPr id="8" name="Oval 7"/>
          <p:cNvSpPr/>
          <p:nvPr/>
        </p:nvSpPr>
        <p:spPr>
          <a:xfrm>
            <a:off x="7269480" y="1600200"/>
            <a:ext cx="411480" cy="411480"/>
          </a:xfrm>
          <a:prstGeom prst="ellipse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88352" y="1655064"/>
            <a:ext cx="164592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1581912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>
                <a:solidFill>
                  <a:srgbClr val="0A162C"/>
                </a:solidFill>
                <a:latin typeface="Aptos"/>
              </a:rPr>
              <a:t>Review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1837943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0">
                <a:solidFill>
                  <a:srgbClr val="566679"/>
                </a:solidFill>
                <a:latin typeface="Aptos"/>
              </a:rPr>
              <a:t>Score page/post quality for GEO and find quick wins.</a:t>
            </a:r>
          </a:p>
        </p:txBody>
      </p:sp>
      <p:sp>
        <p:nvSpPr>
          <p:cNvPr id="12" name="Oval 11"/>
          <p:cNvSpPr/>
          <p:nvPr/>
        </p:nvSpPr>
        <p:spPr>
          <a:xfrm>
            <a:off x="7269480" y="2532888"/>
            <a:ext cx="411480" cy="411480"/>
          </a:xfrm>
          <a:prstGeom prst="ellipse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88352" y="2587752"/>
            <a:ext cx="164592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514600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>
                <a:solidFill>
                  <a:srgbClr val="0A162C"/>
                </a:solidFill>
                <a:latin typeface="Aptos"/>
              </a:rPr>
              <a:t>Preview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770632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0">
                <a:solidFill>
                  <a:srgbClr val="566679"/>
                </a:solidFill>
                <a:latin typeface="Aptos"/>
              </a:rPr>
              <a:t>Generate summary, internal links, and schema before writing.</a:t>
            </a:r>
          </a:p>
        </p:txBody>
      </p:sp>
      <p:sp>
        <p:nvSpPr>
          <p:cNvPr id="16" name="Oval 15"/>
          <p:cNvSpPr/>
          <p:nvPr/>
        </p:nvSpPr>
        <p:spPr>
          <a:xfrm>
            <a:off x="7269480" y="3465576"/>
            <a:ext cx="411480" cy="411480"/>
          </a:xfrm>
          <a:prstGeom prst="ellipse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88352" y="3520440"/>
            <a:ext cx="164592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44728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>
                <a:solidFill>
                  <a:srgbClr val="0A162C"/>
                </a:solidFill>
                <a:latin typeface="Aptos"/>
              </a:rPr>
              <a:t>Apply safely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370332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0">
                <a:solidFill>
                  <a:srgbClr val="566679"/>
                </a:solidFill>
                <a:latin typeface="Aptos"/>
              </a:rPr>
              <a:t>Update draft or approved content via MCP tools.</a:t>
            </a:r>
          </a:p>
        </p:txBody>
      </p:sp>
      <p:sp>
        <p:nvSpPr>
          <p:cNvPr id="20" name="Oval 19"/>
          <p:cNvSpPr/>
          <p:nvPr/>
        </p:nvSpPr>
        <p:spPr>
          <a:xfrm>
            <a:off x="7269480" y="4398264"/>
            <a:ext cx="411480" cy="411480"/>
          </a:xfrm>
          <a:prstGeom prst="ellipse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88352" y="4453128"/>
            <a:ext cx="164592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4379976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>
                <a:solidFill>
                  <a:srgbClr val="0A162C"/>
                </a:solidFill>
                <a:latin typeface="Aptos"/>
              </a:rPr>
              <a:t>Verify 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4636008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0">
                <a:solidFill>
                  <a:srgbClr val="566679"/>
                </a:solidFill>
                <a:latin typeface="Aptos"/>
              </a:rPr>
              <a:t>Health check, tool test, and draft-only write validation.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440680"/>
            <a:ext cx="1691640" cy="868680"/>
          </a:xfrm>
          <a:prstGeom prst="roundRect">
            <a:avLst/>
          </a:prstGeom>
          <a:solidFill>
            <a:srgbClr val="12213E"/>
          </a:solidFill>
          <a:ln w="16510">
            <a:solidFill>
              <a:srgbClr val="12B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5559552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587959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00" b="0">
                <a:solidFill>
                  <a:srgbClr val="B6CDE6"/>
                </a:solidFill>
                <a:latin typeface="Aptos"/>
              </a:rPr>
              <a:t>Restored tools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440680"/>
            <a:ext cx="1691640" cy="868680"/>
          </a:xfrm>
          <a:prstGeom prst="roundRect">
            <a:avLst/>
          </a:prstGeom>
          <a:solidFill>
            <a:srgbClr val="12213E"/>
          </a:solidFill>
          <a:ln w="1651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70632" y="5559552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1 reversible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70632" y="587959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00" b="0">
                <a:solidFill>
                  <a:srgbClr val="B6CDE6"/>
                </a:solidFill>
                <a:latin typeface="Aptos"/>
              </a:rPr>
              <a:t>Live write tests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17720" y="5440680"/>
            <a:ext cx="1691640" cy="868680"/>
          </a:xfrm>
          <a:prstGeom prst="roundRect">
            <a:avLst/>
          </a:prstGeom>
          <a:solidFill>
            <a:srgbClr val="12213E"/>
          </a:solidFill>
          <a:ln w="16510">
            <a:solidFill>
              <a:srgbClr val="2AC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36592" y="5559552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Healthy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36592" y="587959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00" b="0">
                <a:solidFill>
                  <a:srgbClr val="B6CDE6"/>
                </a:solidFill>
                <a:latin typeface="Aptos"/>
              </a:rPr>
              <a:t>Site result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600" b="1">
                <a:solidFill>
                  <a:srgbClr val="0A162C"/>
                </a:solidFill>
                <a:latin typeface="Aptos"/>
              </a:rPr>
              <a:t>What students should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500" b="0">
                <a:solidFill>
                  <a:srgbClr val="566679"/>
                </a:solidFill>
                <a:latin typeface="Aptos"/>
              </a:rPr>
              <a:t>Class 9 is not just content editing — it is a safe operator workflow for live websites.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4754880" cy="1691640"/>
          </a:xfrm>
          <a:prstGeom prst="roundRect">
            <a:avLst/>
          </a:prstGeom>
          <a:solidFill>
            <a:srgbClr val="EAF7FF"/>
          </a:solidFill>
          <a:ln>
            <a:solidFill>
              <a:srgbClr val="D2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7" y="1664208"/>
            <a:ext cx="960120" cy="310896"/>
          </a:xfrm>
          <a:prstGeom prst="roundRect">
            <a:avLst/>
          </a:prstGeom>
          <a:solidFill>
            <a:srgbClr val="2AC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7099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GEO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57400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1">
                <a:solidFill>
                  <a:srgbClr val="0A162C"/>
                </a:solidFill>
                <a:latin typeface="Aptos"/>
              </a:rPr>
              <a:t>GEO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77440"/>
            <a:ext cx="425196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0">
                <a:solidFill>
                  <a:srgbClr val="1C2A3D"/>
                </a:solidFill>
                <a:latin typeface="Aptos"/>
              </a:rPr>
              <a:t>Hermes scores a page or post, highlights thin content, heading issues, missing excerpts, and recommends next-step fixes.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63040"/>
            <a:ext cx="4754880" cy="1691640"/>
          </a:xfrm>
          <a:prstGeom prst="roundRect">
            <a:avLst/>
          </a:prstGeom>
          <a:solidFill>
            <a:srgbClr val="EAF7FF"/>
          </a:solidFill>
          <a:ln>
            <a:solidFill>
              <a:srgbClr val="D2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73368" y="1664208"/>
            <a:ext cx="960120" cy="310896"/>
          </a:xfrm>
          <a:prstGeom prst="roundRect">
            <a:avLst/>
          </a:prstGeom>
          <a:solidFill>
            <a:srgbClr val="12B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17099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PREVIEW BEFO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057400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1">
                <a:solidFill>
                  <a:srgbClr val="0A162C"/>
                </a:solidFill>
                <a:latin typeface="Aptos"/>
              </a:rPr>
              <a:t>Preview before apply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377440"/>
            <a:ext cx="425196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0">
                <a:solidFill>
                  <a:srgbClr val="1C2A3D"/>
                </a:solidFill>
                <a:latin typeface="Aptos"/>
              </a:rPr>
              <a:t>Students can inspect summary, links, and schema output first instead of writing blindly to WordPress.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4754880" cy="1691640"/>
          </a:xfrm>
          <a:prstGeom prst="roundRect">
            <a:avLst/>
          </a:prstGeom>
          <a:solidFill>
            <a:srgbClr val="EAF7FF"/>
          </a:solidFill>
          <a:ln>
            <a:solidFill>
              <a:srgbClr val="D2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7" y="3904487"/>
            <a:ext cx="960120" cy="310896"/>
          </a:xfrm>
          <a:prstGeom prst="round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95020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WORDPRESS MC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4297680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1">
                <a:solidFill>
                  <a:srgbClr val="0A162C"/>
                </a:solidFill>
                <a:latin typeface="Aptos"/>
              </a:rPr>
              <a:t>WordPress MCP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617720"/>
            <a:ext cx="425196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0">
                <a:solidFill>
                  <a:srgbClr val="1C2A3D"/>
                </a:solidFill>
                <a:latin typeface="Aptos"/>
              </a:rPr>
              <a:t>Safe tools expose list/read/update flows so website work can happen through an audited API boundary.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703320"/>
            <a:ext cx="4754880" cy="1691640"/>
          </a:xfrm>
          <a:prstGeom prst="roundRect">
            <a:avLst/>
          </a:prstGeom>
          <a:solidFill>
            <a:srgbClr val="EAF7FF"/>
          </a:solidFill>
          <a:ln>
            <a:solidFill>
              <a:srgbClr val="D2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73368" y="3904487"/>
            <a:ext cx="960120" cy="310896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3096" y="395020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PRODUCTION 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4297680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1">
                <a:solidFill>
                  <a:srgbClr val="0A162C"/>
                </a:solidFill>
                <a:latin typeface="Aptos"/>
              </a:rPr>
              <a:t>Production verification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617720"/>
            <a:ext cx="425196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0">
                <a:solidFill>
                  <a:srgbClr val="1C2A3D"/>
                </a:solidFill>
                <a:latin typeface="Aptos"/>
              </a:rPr>
              <a:t>The demo proves plugin health, live auth, restored tools, and a reversible draft-only write test.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600" b="1">
                <a:solidFill>
                  <a:srgbClr val="0A162C"/>
                </a:solidFill>
                <a:latin typeface="Aptos"/>
              </a:rPr>
              <a:t>Demo flow for class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500" b="0">
                <a:solidFill>
                  <a:srgbClr val="566679"/>
                </a:solidFill>
                <a:latin typeface="Aptos"/>
              </a:rPr>
              <a:t>A clear live sequence students can understand in under 5 minutes.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746504"/>
            <a:ext cx="164592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7" name="Chevron 6"/>
          <p:cNvSpPr/>
          <p:nvPr/>
        </p:nvSpPr>
        <p:spPr>
          <a:xfrm>
            <a:off x="1389888" y="1801368"/>
            <a:ext cx="2057400" cy="164592"/>
          </a:xfrm>
          <a:prstGeom prst="chevron">
            <a:avLst/>
          </a:prstGeom>
          <a:solidFill>
            <a:srgbClr val="C6D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>
                <a:solidFill>
                  <a:srgbClr val="0A162C"/>
                </a:solidFill>
                <a:latin typeface="Aptos"/>
              </a:rPr>
              <a:t>Show health endpoint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2240280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0">
                <a:solidFill>
                  <a:srgbClr val="1C2A3D"/>
                </a:solidFill>
                <a:latin typeface="Aptos"/>
              </a:rPr>
              <a:t>Prove the plugin is installed, enabled, and not crashing the site.</a:t>
            </a:r>
          </a:p>
        </p:txBody>
      </p:sp>
      <p:sp>
        <p:nvSpPr>
          <p:cNvPr id="10" name="Oval 9"/>
          <p:cNvSpPr/>
          <p:nvPr/>
        </p:nvSpPr>
        <p:spPr>
          <a:xfrm>
            <a:off x="3611880" y="1645920"/>
            <a:ext cx="502920" cy="502920"/>
          </a:xfrm>
          <a:prstGeom prst="ellipse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5616" y="1746504"/>
            <a:ext cx="164592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2" name="Chevron 11"/>
          <p:cNvSpPr/>
          <p:nvPr/>
        </p:nvSpPr>
        <p:spPr>
          <a:xfrm>
            <a:off x="4270248" y="1801368"/>
            <a:ext cx="2057400" cy="164592"/>
          </a:xfrm>
          <a:prstGeom prst="chevron">
            <a:avLst/>
          </a:prstGeom>
          <a:solidFill>
            <a:srgbClr val="C6D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3317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>
                <a:solidFill>
                  <a:srgbClr val="0A162C"/>
                </a:solidFill>
                <a:latin typeface="Aptos"/>
              </a:rPr>
              <a:t>List live MCP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697480"/>
            <a:ext cx="2240280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0">
                <a:solidFill>
                  <a:srgbClr val="1C2A3D"/>
                </a:solidFill>
                <a:latin typeface="Aptos"/>
              </a:rPr>
              <a:t>Confirm restored tools such as resolve_content_by_url_or_slug and get_content_seo_bundle.</a:t>
            </a:r>
          </a:p>
        </p:txBody>
      </p:sp>
      <p:sp>
        <p:nvSpPr>
          <p:cNvPr id="15" name="Oval 14"/>
          <p:cNvSpPr/>
          <p:nvPr/>
        </p:nvSpPr>
        <p:spPr>
          <a:xfrm>
            <a:off x="6492240" y="1645920"/>
            <a:ext cx="502920" cy="502920"/>
          </a:xfrm>
          <a:prstGeom prst="ellipse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65976" y="1746504"/>
            <a:ext cx="164592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7" name="Chevron 16"/>
          <p:cNvSpPr/>
          <p:nvPr/>
        </p:nvSpPr>
        <p:spPr>
          <a:xfrm>
            <a:off x="7150607" y="1801368"/>
            <a:ext cx="2057400" cy="164592"/>
          </a:xfrm>
          <a:prstGeom prst="chevron">
            <a:avLst/>
          </a:prstGeom>
          <a:solidFill>
            <a:srgbClr val="C6D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317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>
                <a:solidFill>
                  <a:srgbClr val="0A162C"/>
                </a:solidFill>
                <a:latin typeface="Aptos"/>
              </a:rPr>
              <a:t>Open a draft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97480"/>
            <a:ext cx="2240280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0">
                <a:solidFill>
                  <a:srgbClr val="1C2A3D"/>
                </a:solidFill>
                <a:latin typeface="Aptos"/>
              </a:rPr>
              <a:t>Use a draft post so students see real content without risking published pages.</a:t>
            </a:r>
          </a:p>
        </p:txBody>
      </p:sp>
      <p:sp>
        <p:nvSpPr>
          <p:cNvPr id="20" name="Oval 19"/>
          <p:cNvSpPr/>
          <p:nvPr/>
        </p:nvSpPr>
        <p:spPr>
          <a:xfrm>
            <a:off x="9372600" y="1645920"/>
            <a:ext cx="502920" cy="50292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46336" y="1746504"/>
            <a:ext cx="164592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3317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>
                <a:solidFill>
                  <a:srgbClr val="0A162C"/>
                </a:solidFill>
                <a:latin typeface="Aptos"/>
              </a:rPr>
              <a:t>Run reversible write 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697480"/>
            <a:ext cx="2240280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0">
                <a:solidFill>
                  <a:srgbClr val="1C2A3D"/>
                </a:solidFill>
                <a:latin typeface="Aptos"/>
              </a:rPr>
              <a:t>Update SEO fields on the draft, verify them, then restore original values.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754880"/>
            <a:ext cx="10698480" cy="1188720"/>
          </a:xfrm>
          <a:prstGeom prst="round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983480"/>
            <a:ext cx="1014984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Teaching point: the highlight is not “AI wrote SEO.” The highlight is “Hermes can review, preview, verify, and update WordPress safely through MCP.”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600" b="1">
                <a:solidFill>
                  <a:srgbClr val="2AC9E6"/>
                </a:solidFill>
                <a:latin typeface="Aptos"/>
              </a:rPr>
              <a:t>DEMO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What was proven live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5303520" cy="4434840"/>
          </a:xfrm>
          <a:prstGeom prst="roundRect">
            <a:avLst/>
          </a:prstGeom>
          <a:solidFill>
            <a:srgbClr val="11203B"/>
          </a:solidFill>
          <a:ln>
            <a:solidFill>
              <a:srgbClr val="2E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Validated in the live site</a:t>
            </a:r>
          </a:p>
        </p:txBody>
      </p:sp>
      <p:sp>
        <p:nvSpPr>
          <p:cNvPr id="7" name="Oval 6"/>
          <p:cNvSpPr/>
          <p:nvPr/>
        </p:nvSpPr>
        <p:spPr>
          <a:xfrm>
            <a:off x="987552" y="2542032"/>
            <a:ext cx="109728" cy="109728"/>
          </a:xfrm>
          <a:prstGeom prst="ellipse">
            <a:avLst/>
          </a:prstGeom>
          <a:solidFill>
            <a:srgbClr val="12B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487168"/>
            <a:ext cx="452628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500" b="0">
                <a:solidFill>
                  <a:srgbClr val="DFE9F5"/>
                </a:solidFill>
                <a:latin typeface="Aptos"/>
              </a:rPr>
              <a:t>Health endpoint returned OK</a:t>
            </a:r>
          </a:p>
        </p:txBody>
      </p:sp>
      <p:sp>
        <p:nvSpPr>
          <p:cNvPr id="9" name="Oval 8"/>
          <p:cNvSpPr/>
          <p:nvPr/>
        </p:nvSpPr>
        <p:spPr>
          <a:xfrm>
            <a:off x="987552" y="3017520"/>
            <a:ext cx="109728" cy="109728"/>
          </a:xfrm>
          <a:prstGeom prst="ellipse">
            <a:avLst/>
          </a:prstGeom>
          <a:solidFill>
            <a:srgbClr val="12B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962656"/>
            <a:ext cx="452628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500" b="0">
                <a:solidFill>
                  <a:srgbClr val="DFE9F5"/>
                </a:solidFill>
                <a:latin typeface="Aptos"/>
              </a:rPr>
              <a:t>Authenticated tools/list worked</a:t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3493008"/>
            <a:ext cx="109728" cy="109728"/>
          </a:xfrm>
          <a:prstGeom prst="ellipse">
            <a:avLst/>
          </a:prstGeom>
          <a:solidFill>
            <a:srgbClr val="12B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438144"/>
            <a:ext cx="452628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500" b="0">
                <a:solidFill>
                  <a:srgbClr val="DFE9F5"/>
                </a:solidFill>
                <a:latin typeface="Aptos"/>
              </a:rPr>
              <a:t>Restored tools were visible and callable</a:t>
            </a:r>
          </a:p>
        </p:txBody>
      </p:sp>
      <p:sp>
        <p:nvSpPr>
          <p:cNvPr id="13" name="Oval 12"/>
          <p:cNvSpPr/>
          <p:nvPr/>
        </p:nvSpPr>
        <p:spPr>
          <a:xfrm>
            <a:off x="987552" y="3968496"/>
            <a:ext cx="109728" cy="109728"/>
          </a:xfrm>
          <a:prstGeom prst="ellipse">
            <a:avLst/>
          </a:prstGeom>
          <a:solidFill>
            <a:srgbClr val="12B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3913632"/>
            <a:ext cx="452628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500" b="0">
                <a:solidFill>
                  <a:srgbClr val="DFE9F5"/>
                </a:solidFill>
                <a:latin typeface="Aptos"/>
              </a:rPr>
              <a:t>Homepage and draft content resolved correctly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443984"/>
            <a:ext cx="109728" cy="109728"/>
          </a:xfrm>
          <a:prstGeom prst="ellipse">
            <a:avLst/>
          </a:prstGeom>
          <a:solidFill>
            <a:srgbClr val="12B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4389120"/>
            <a:ext cx="452628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500" b="0">
                <a:solidFill>
                  <a:srgbClr val="DFE9F5"/>
                </a:solidFill>
                <a:latin typeface="Aptos"/>
              </a:rPr>
              <a:t>Draft SEO write test succeeded and was restored</a:t>
            </a:r>
          </a:p>
        </p:txBody>
      </p:sp>
      <p:sp>
        <p:nvSpPr>
          <p:cNvPr id="17" name="Oval 16"/>
          <p:cNvSpPr/>
          <p:nvPr/>
        </p:nvSpPr>
        <p:spPr>
          <a:xfrm>
            <a:off x="987552" y="4919472"/>
            <a:ext cx="109728" cy="109728"/>
          </a:xfrm>
          <a:prstGeom prst="ellipse">
            <a:avLst/>
          </a:prstGeom>
          <a:solidFill>
            <a:srgbClr val="12B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4864607"/>
            <a:ext cx="452628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500" b="0">
                <a:solidFill>
                  <a:srgbClr val="DFE9F5"/>
                </a:solidFill>
                <a:latin typeface="Aptos"/>
              </a:rPr>
              <a:t>No plugin crash after install or activation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737360"/>
            <a:ext cx="5212080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01168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>
                <a:solidFill>
                  <a:srgbClr val="0A162C"/>
                </a:solidFill>
                <a:latin typeface="Aptos"/>
              </a:rPr>
              <a:t>How to position the class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514600"/>
            <a:ext cx="4526280" cy="1920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500" b="0">
                <a:solidFill>
                  <a:srgbClr val="1C2A3D"/>
                </a:solidFill>
                <a:latin typeface="Aptos"/>
              </a:rPr>
              <a:t>Class 9 shows students how an AI agent can become a safe website operator:
• inspect the site
• reason about GEO improvements
• preview changes before writing
• verify real behavior on a live system
• keep risky actions constrained to drafts first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892040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>
                <a:solidFill>
                  <a:srgbClr val="FF9F43"/>
                </a:solidFill>
                <a:latin typeface="Aptos"/>
              </a:rPr>
              <a:t>Best close: “This is the bridge from AI content ideas to real website operations.”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